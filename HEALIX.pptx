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DDF5"/>
    <a:srgbClr val="DAB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33610-5473-E543-7814-0F8E1A8DC2DA}" v="173" dt="2025-11-06T09:58:37.147"/>
    <p1510:client id="{61BA0A18-4E0E-4FCD-5DA4-5467AD7B83CF}" v="781" dt="2025-11-06T10:43:18.444"/>
    <p1510:client id="{8911D1FA-8ACD-1EB9-894C-358AC7279F5F}" v="501" dt="2025-11-06T10:48:32.358"/>
    <p1510:client id="{BE3FFB91-B600-22DB-63AA-54EBBB6F5859}" v="947" dt="2025-11-06T10:48:59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782B-B860-11A3-44F6-D6251AB4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536EF-5367-2369-A157-30E6F742D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AC564-EF3C-10AC-E1FD-C685395F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B8955-F3B5-ADC9-4B3C-963AB969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0AEC-BCAE-1722-70E2-82BFF7C9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1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F63C-5ACB-3877-1D55-75682CB9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E9481-BD9F-AE0D-5586-328286B60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6EA0-0EC8-7EF7-718A-5DCD79F2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CA674-7DDD-485A-4B76-F634B5EF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E8E35-83B8-BE42-BC8E-90236E7E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40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EB70-C3CC-C501-B3F3-B4F5D17E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34FA4-DB86-6AA3-FA5E-593C6E884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5EE34-8405-86B7-EBF7-6B1AA1D0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AE5D4-15E7-03D1-6CC2-655510B1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CF55A-6E24-B83A-D228-77F49927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69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246B-F9C8-07F3-97CC-A659D3981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6036-9B02-944F-89C7-A281A019F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18BFE-B2F7-38A4-52EB-02C2D93C2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18AB8-0714-349C-8E56-381C117A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CCAE9-BF9F-9E83-5C14-1F259E93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E2DDC-3AA0-1F51-D67F-48D01CC3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5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0D77-012A-8F20-02E4-EC044C72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BC54-41C5-787C-E13D-431952E8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2A0EE-BE64-D08F-597C-8876F124D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2F53C-5C4E-3867-D3EC-799983417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9325E-F114-3910-7F01-BCC47023A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7B340-472E-7BDD-290D-67565949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2A494-6CD6-4DFE-A317-4B30BA38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DCCED-E1AF-FD64-1664-16744365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93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38AF-BCC5-5A2D-4894-B54F45CB6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5D7FC-B5AA-84CD-654E-CBB82CF3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487AF-B574-3D73-BAB4-377B93D5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87BAF-02D8-B30E-8B57-5CC8CCF1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69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8D37BC-C6E6-2D3A-129B-7802F403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3EF53-F294-2CE9-3DC5-CA0718B8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6C128-CB43-CFE5-6317-F61920A3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86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990B-284C-BD31-61B4-8BC24322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CD0C-425D-20FE-EBD8-476C2CD14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20823-2508-5F9A-40D4-14084210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00499-1C8E-8FE5-F432-A6B843A1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0987F-BBF5-AF0C-220E-40EFEA42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B8F6E-9587-8797-6298-171D7D2D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0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04F8-FBB4-6406-1950-BC9A6B5F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7B74B-D49C-50F8-AF48-1EBA42DE8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9FB07-E021-F031-5474-D15E99A00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4B1FF-02AF-21A5-BE92-9AA2DF9C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391BB-852A-5FBA-4273-3285C325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C0C94-9D04-36A8-EA9B-E476615B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6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1811-59C1-4BC0-A2CB-B939C6E3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3D493-A04E-20F2-0F04-994AED30C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3477B-2F40-A946-BDE7-A15029DF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648BE-7F8F-81CA-3781-41F83A69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833DA-C655-EE9E-12A3-C687B46F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1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0D9A6-CE0D-462E-0554-F5F13C66A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F2A87-EECC-898A-E039-4341E6A68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16444-8E96-A341-A12F-FC952A1B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0E011-ECCB-D961-182B-BD4AEF0D5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ADF7E-87CB-6F65-8408-02197E88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63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44879-72C8-9787-D34F-2D64E16E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4014-5815-424F-53C1-0FE9B0EB5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8588A-2C20-2B33-0B07-6844F35D5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D351E-82E7-425F-9D67-2274B5B8A48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D6B83-C31A-1D34-5292-BF9CAF9C8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6E748-BF2D-2D92-9532-D0708439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6F51B-AD75-4856-B97E-4DF501B95D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1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mailto:aloksngh127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Kkanchanprajapati.75@gmail.com" TargetMode="External"/><Relationship Id="rId5" Type="http://schemas.openxmlformats.org/officeDocument/2006/relationships/hyperlink" Target="mailto:Info.ankitakm2609@gmail.co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6D726-156E-0D99-0ADE-64263E7DA400}"/>
              </a:ext>
            </a:extLst>
          </p:cNvPr>
          <p:cNvSpPr/>
          <p:nvPr/>
        </p:nvSpPr>
        <p:spPr>
          <a:xfrm>
            <a:off x="0" y="6434437"/>
            <a:ext cx="12192000" cy="4235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ea typeface="+mn-lt"/>
                <a:cs typeface="+mn-lt"/>
              </a:rPr>
              <a:t>© Team HEALIX | 2025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91555-C6EF-B50D-D1B3-A2DCB99E89FA}"/>
              </a:ext>
            </a:extLst>
          </p:cNvPr>
          <p:cNvSpPr/>
          <p:nvPr/>
        </p:nvSpPr>
        <p:spPr>
          <a:xfrm>
            <a:off x="0" y="-60367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600" b="1">
                <a:solidFill>
                  <a:schemeClr val="tx1"/>
                </a:solidFill>
              </a:rPr>
              <a:t>GenAI Hackathon</a:t>
            </a:r>
          </a:p>
          <a:p>
            <a:pPr algn="ctr"/>
            <a:r>
              <a:rPr lang="en-IN">
                <a:solidFill>
                  <a:schemeClr val="tx1"/>
                </a:solidFill>
              </a:rPr>
              <a:t>Bansal Institute of Engineering and Technology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8254F984-3C2D-C6D1-E4AA-F7444F84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5652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69C0FD7-2B82-5379-C305-6C471F19B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E91091F8-D9FE-7E3C-E62C-5AA140733E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12800"/>
            <a:ext cx="1203008" cy="666836"/>
          </a:xfrm>
          <a:prstGeom prst="rect">
            <a:avLst/>
          </a:prstGeom>
        </p:spPr>
      </p:pic>
      <p:pic>
        <p:nvPicPr>
          <p:cNvPr id="25" name="Picture 2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FF69A69-D371-A91B-EA02-1A03FC8AADE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979" y="1461407"/>
            <a:ext cx="4762500" cy="4762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5A45531-BE0C-751F-4C35-4BA4C6F78D04}"/>
              </a:ext>
            </a:extLst>
          </p:cNvPr>
          <p:cNvSpPr txBox="1"/>
          <p:nvPr/>
        </p:nvSpPr>
        <p:spPr>
          <a:xfrm>
            <a:off x="36864" y="1616471"/>
            <a:ext cx="12105424" cy="190821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>
                <a:latin typeface="Aptos"/>
              </a:rPr>
              <a:t>Problem Statement:-</a:t>
            </a:r>
            <a:r>
              <a:rPr lang="en-IN" sz="2400">
                <a:latin typeface="Aptos"/>
              </a:rPr>
              <a:t> In rural and semi-urban areas, patients often struggle to describe their symptoms due to language barriers and lack of medical knowledge. This leads to delays and misdiagnosis. There is a need for an AI system that understands voice-based inputs and helps doctors get quick, structured health insights</a:t>
            </a:r>
            <a:r>
              <a:rPr lang="en-IN" sz="2400" b="1">
                <a:latin typeface="Aptos"/>
              </a:rPr>
              <a:t>.</a:t>
            </a:r>
            <a:endParaRPr lang="en-IN" sz="2400">
              <a:latin typeface="Aptos"/>
            </a:endParaRPr>
          </a:p>
          <a:p>
            <a:endParaRPr lang="en-IN">
              <a:latin typeface="Arial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27F6F-91ED-DA22-DEFF-CF78FB5D3C8D}"/>
              </a:ext>
            </a:extLst>
          </p:cNvPr>
          <p:cNvSpPr txBox="1"/>
          <p:nvPr/>
        </p:nvSpPr>
        <p:spPr>
          <a:xfrm>
            <a:off x="69649" y="970160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Theme:-</a:t>
            </a:r>
            <a:r>
              <a:rPr lang="en-US"/>
              <a:t> </a:t>
            </a:r>
            <a:r>
              <a:rPr lang="en-US" sz="2400"/>
              <a:t>HealthTech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9AEA8-8212-DF17-8001-DA05EE4F2332}"/>
              </a:ext>
            </a:extLst>
          </p:cNvPr>
          <p:cNvSpPr txBox="1"/>
          <p:nvPr/>
        </p:nvSpPr>
        <p:spPr>
          <a:xfrm>
            <a:off x="10010" y="3317584"/>
            <a:ext cx="390574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Team Name:-</a:t>
            </a:r>
            <a:r>
              <a:rPr lang="en-US" sz="2800"/>
              <a:t> </a:t>
            </a:r>
            <a:r>
              <a:rPr lang="en-US" sz="2400" i="1"/>
              <a:t>HEALIX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5E72D-2ED1-59AA-22DB-C2810FA0C074}"/>
              </a:ext>
            </a:extLst>
          </p:cNvPr>
          <p:cNvSpPr txBox="1"/>
          <p:nvPr/>
        </p:nvSpPr>
        <p:spPr>
          <a:xfrm>
            <a:off x="15088" y="3971892"/>
            <a:ext cx="908942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Visual: </a:t>
            </a:r>
            <a:r>
              <a:rPr lang="en-US" sz="2400">
                <a:ea typeface="+mn-lt"/>
                <a:cs typeface="+mn-lt"/>
              </a:rPr>
              <a:t>Confused patient, rural clinic, or communication barrier.</a:t>
            </a:r>
          </a:p>
          <a:p>
            <a:r>
              <a:rPr lang="en-US" sz="2400" b="1"/>
              <a:t>Tagline</a:t>
            </a:r>
            <a:r>
              <a:rPr lang="en-US" sz="2400"/>
              <a:t>: </a:t>
            </a:r>
            <a:r>
              <a:rPr lang="en-US" sz="2400">
                <a:ea typeface="+mn-lt"/>
                <a:cs typeface="+mn-lt"/>
              </a:rPr>
              <a:t>We convert patient voice into doctor-ready medical insights.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A1F76-1808-7349-3B1B-69F11FB00C90}"/>
              </a:ext>
            </a:extLst>
          </p:cNvPr>
          <p:cNvSpPr txBox="1"/>
          <p:nvPr/>
        </p:nvSpPr>
        <p:spPr>
          <a:xfrm>
            <a:off x="662458" y="4899433"/>
            <a:ext cx="5437681" cy="1173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3B6DA-0B4F-C7D9-0C5C-64A32913E54D}"/>
              </a:ext>
            </a:extLst>
          </p:cNvPr>
          <p:cNvSpPr txBox="1"/>
          <p:nvPr/>
        </p:nvSpPr>
        <p:spPr>
          <a:xfrm>
            <a:off x="285750" y="5391149"/>
            <a:ext cx="1130209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>
                <a:solidFill>
                  <a:schemeClr val="tx2">
                    <a:lumMod val="49000"/>
                    <a:lumOff val="51000"/>
                  </a:schemeClr>
                </a:solidFill>
              </a:rPr>
              <a:t>The  Real Problem Is Not Disease -   its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005726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40AC-677F-467E-4DDC-6B13697F6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13D6B5-E2A0-1518-E633-2993CF373742}"/>
              </a:ext>
            </a:extLst>
          </p:cNvPr>
          <p:cNvSpPr/>
          <p:nvPr/>
        </p:nvSpPr>
        <p:spPr>
          <a:xfrm>
            <a:off x="0" y="6534296"/>
            <a:ext cx="12192000" cy="323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D2AE77-6730-1BAE-45D0-C3B17735DDD4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/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F698B88-D77D-36BA-2A42-2E5180040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E23C2A8-DFC5-C887-D0D2-F2F172090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33" y="-209378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CCF06B78-F604-F2C2-03D3-08059EB98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754581-1962-52C1-C3D7-9709770BA9CA}"/>
              </a:ext>
            </a:extLst>
          </p:cNvPr>
          <p:cNvSpPr txBox="1"/>
          <p:nvPr/>
        </p:nvSpPr>
        <p:spPr>
          <a:xfrm>
            <a:off x="3242738" y="106063"/>
            <a:ext cx="615988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/>
              <a:t>Problem Statement</a:t>
            </a:r>
          </a:p>
        </p:txBody>
      </p:sp>
      <p:pic>
        <p:nvPicPr>
          <p:cNvPr id="5" name="Picture 4" descr="A group of signs with text&#10;&#10;AI-generated content may be incorrect.">
            <a:extLst>
              <a:ext uri="{FF2B5EF4-FFF2-40B4-BE49-F238E27FC236}">
                <a16:creationId xmlns:a16="http://schemas.microsoft.com/office/drawing/2014/main" id="{59AF8DD2-06A3-4975-A350-433EAFEFE4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390" t="18106" r="2721" b="7024"/>
          <a:stretch>
            <a:fillRect/>
          </a:stretch>
        </p:blipFill>
        <p:spPr>
          <a:xfrm>
            <a:off x="5471173" y="1432152"/>
            <a:ext cx="6633083" cy="3983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B06451-4B47-29AD-DC52-F56C1016D708}"/>
              </a:ext>
            </a:extLst>
          </p:cNvPr>
          <p:cNvSpPr txBox="1"/>
          <p:nvPr/>
        </p:nvSpPr>
        <p:spPr>
          <a:xfrm>
            <a:off x="152198" y="1033136"/>
            <a:ext cx="5096631" cy="53669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/>
              <a:t>Patients in rural and semi-urban areas often struggle to describe their symptoms.</a:t>
            </a:r>
            <a:endParaRPr lang="en-US"/>
          </a:p>
          <a:p>
            <a:pPr marL="228600" indent="-228600">
              <a:buFont typeface=""/>
              <a:buChar char="•"/>
            </a:pPr>
            <a:r>
              <a:rPr lang="en-US" sz="2400"/>
              <a:t>Language barriers and limited medical knowledge make communication difficult.</a:t>
            </a:r>
            <a:endParaRPr lang="en-US"/>
          </a:p>
          <a:p>
            <a:pPr marL="228600" indent="-228600">
              <a:buFont typeface=""/>
              <a:buChar char="•"/>
            </a:pPr>
            <a:r>
              <a:rPr lang="en-US" sz="2400"/>
              <a:t>This leads to delayed or inaccurate diagnoses by doctors.</a:t>
            </a:r>
            <a:endParaRPr lang="en-US"/>
          </a:p>
          <a:p>
            <a:pPr marL="228600" indent="-228600">
              <a:buFont typeface=""/>
              <a:buChar char="•"/>
            </a:pPr>
            <a:r>
              <a:rPr lang="en-US" sz="2400"/>
              <a:t>There is a need for an AI system that interprets voice inputs to provide quick, structured health insights.</a:t>
            </a:r>
          </a:p>
        </p:txBody>
      </p:sp>
    </p:spTree>
    <p:extLst>
      <p:ext uri="{BB962C8B-B14F-4D97-AF65-F5344CB8AC3E}">
        <p14:creationId xmlns:p14="http://schemas.microsoft.com/office/powerpoint/2010/main" val="270683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A787-BBB4-5C85-A449-AFF45839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3E54BC-AD9B-264C-32A7-C1A4D4B8EA6A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BDA59-7120-F4C3-082B-0CD107C209FE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Proposed Solution &amp; It's Approach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FEB5321-5B1D-8D44-BBE2-D45C17ECA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D06D8ED-F703-F57A-7808-EFEB550E1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3EB3C0CA-301C-2A22-DF69-DB732E375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DB260AF7-4A51-6E8F-5D3C-2F7F7864BA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331" t="17319" r="3737" b="7736"/>
          <a:stretch>
            <a:fillRect/>
          </a:stretch>
        </p:blipFill>
        <p:spPr>
          <a:xfrm>
            <a:off x="1382874" y="709020"/>
            <a:ext cx="8506238" cy="3420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CDD0CF-DAA8-D3A5-1C5D-528FB3E82A76}"/>
              </a:ext>
            </a:extLst>
          </p:cNvPr>
          <p:cNvSpPr txBox="1"/>
          <p:nvPr/>
        </p:nvSpPr>
        <p:spPr>
          <a:xfrm>
            <a:off x="539247" y="4007555"/>
            <a:ext cx="10964334" cy="24857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err="1"/>
              <a:t>AarogyaAI</a:t>
            </a:r>
            <a:r>
              <a:rPr lang="en-US" sz="2000"/>
              <a:t> is a </a:t>
            </a:r>
            <a:r>
              <a:rPr lang="en-US" sz="2000" b="1"/>
              <a:t>voice-based healthcare assistant</a:t>
            </a:r>
            <a:r>
              <a:rPr lang="en-US" sz="2000"/>
              <a:t> designed to help patients explain their symptoms clearly.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The system allows patients to </a:t>
            </a:r>
            <a:r>
              <a:rPr lang="en-US" sz="2000" b="1"/>
              <a:t>speak naturally</a:t>
            </a:r>
            <a:r>
              <a:rPr lang="en-US" sz="2000"/>
              <a:t> in </a:t>
            </a:r>
            <a:r>
              <a:rPr lang="en-US" sz="2000" b="1"/>
              <a:t>Hindi or English</a:t>
            </a:r>
            <a:r>
              <a:rPr lang="en-US" sz="2000"/>
              <a:t>, without needing medical terms.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Google Speech-to-Text</a:t>
            </a:r>
            <a:r>
              <a:rPr lang="en-US" sz="2000"/>
              <a:t> converts the voice input into text.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Gemini / AI Model</a:t>
            </a:r>
            <a:r>
              <a:rPr lang="en-US" sz="2000"/>
              <a:t> analyzes the symptoms and generates a </a:t>
            </a:r>
            <a:r>
              <a:rPr lang="en-US" sz="2000" b="1"/>
              <a:t>structured medical summary</a:t>
            </a:r>
            <a:r>
              <a:rPr lang="en-US" sz="20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The summary helps doctors understand the patient’s condition </a:t>
            </a:r>
            <a:r>
              <a:rPr lang="en-US" sz="2000" b="1"/>
              <a:t>quickly and accurately</a:t>
            </a:r>
            <a:r>
              <a:rPr 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890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46E7-D28F-0828-0112-58C07EDF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0DFB7A-7C23-3CD8-211F-3F2CDF2C2697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77C2C4-B865-6997-92A3-8F0EB5CD3179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Technology Stack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90F94B8-EDB8-1EE4-326A-73594AB74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FB36FFC-5C04-9D57-7244-95243B46B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5398055F-368E-256F-70E1-FD12D3EA4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pic>
        <p:nvPicPr>
          <p:cNvPr id="4" name="Picture 3" descr="A diagram of a healthcare application development&#10;&#10;AI-generated content may be incorrect.">
            <a:extLst>
              <a:ext uri="{FF2B5EF4-FFF2-40B4-BE49-F238E27FC236}">
                <a16:creationId xmlns:a16="http://schemas.microsoft.com/office/drawing/2014/main" id="{24B6EEDE-434E-FE25-0676-5421A642FF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665" b="4400"/>
          <a:stretch>
            <a:fillRect/>
          </a:stretch>
        </p:blipFill>
        <p:spPr>
          <a:xfrm>
            <a:off x="5242161" y="1276503"/>
            <a:ext cx="6954606" cy="4995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8BACDD-5A60-7073-D37A-2881A0D94570}"/>
              </a:ext>
            </a:extLst>
          </p:cNvPr>
          <p:cNvSpPr txBox="1"/>
          <p:nvPr/>
        </p:nvSpPr>
        <p:spPr>
          <a:xfrm>
            <a:off x="408214" y="1279071"/>
            <a:ext cx="4517571" cy="424731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🔹 Gemini API (Generative AI)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Extracts symptoms, duration, red flags, and medical meaning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🔹 Vertex AI (Summary Generation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Converts raw AI output into clear, doctor-ready medical summaries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🔹 Firebase / Google Cloud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Provides real-time database access and encrypted record-keeping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🔹 Streamlit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Frontend UI for patients and doctors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🔹 Python Backend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Connects Speech-to-Text, Gemini, Vertex AI, and Firebase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Handles audio processing and request flo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DD31-6F8A-F94F-9C1C-E7AD1ABA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56EFBF-1120-1C6F-9FC5-D59BA27E5EF6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C867A0-D3E2-30AE-DC5F-FEDEAB95E569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Architecture and Design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84A6531-181F-0929-1C88-2F705F0F8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3634278-739C-D18F-4615-F6A079B6B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740F4003-1ED4-B6AD-1815-AD59F3342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A6E746-C4BB-468F-B7D8-5D8C68C63FDF}"/>
              </a:ext>
            </a:extLst>
          </p:cNvPr>
          <p:cNvSpPr txBox="1"/>
          <p:nvPr/>
        </p:nvSpPr>
        <p:spPr>
          <a:xfrm>
            <a:off x="1146285" y="1710611"/>
            <a:ext cx="4867305" cy="41618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FF0966D-C015-6E86-C2B2-DA7AA704F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664" y="909292"/>
            <a:ext cx="5010150" cy="5657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613720-506C-E6D7-75F8-8BCBD55E8D7F}"/>
              </a:ext>
            </a:extLst>
          </p:cNvPr>
          <p:cNvSpPr txBox="1"/>
          <p:nvPr/>
        </p:nvSpPr>
        <p:spPr>
          <a:xfrm>
            <a:off x="566565" y="1579149"/>
            <a:ext cx="505101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1.Patient Speaks – User gives voice input in Hindi or English.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2.Speech-to-Text – Google API converts voice into text.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3.Gemini API – Extracts key symptoms and analyzes meaning.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4.Vertex AI – Generates structured medical summary.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5.Firebase / GCP – Securely stores patient reports.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6.Streamlit UI – Simple interface for patients and doctor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9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9457-8191-D27F-4CB9-8E0F28A3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FEB0AA-BCF4-51AD-7E5E-8CC5258D5960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35084-35AA-30C8-D216-38640D23279B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Impact and Use Cases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DBD8BF-1A44-D955-D46A-48DC83586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FE85D08-7530-6E88-7D84-40D6682CF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B0C7C7E0-2510-662E-B660-A0575CA63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pic>
        <p:nvPicPr>
          <p:cNvPr id="4" name="Picture 3" descr="A diagram of a health care system&#10;&#10;AI-generated content may be incorrect.">
            <a:extLst>
              <a:ext uri="{FF2B5EF4-FFF2-40B4-BE49-F238E27FC236}">
                <a16:creationId xmlns:a16="http://schemas.microsoft.com/office/drawing/2014/main" id="{A46A314E-BE5D-82B5-67D7-989BF7DB81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21" t="13962" b="6185"/>
          <a:stretch>
            <a:fillRect/>
          </a:stretch>
        </p:blipFill>
        <p:spPr>
          <a:xfrm>
            <a:off x="-104906" y="1198091"/>
            <a:ext cx="7143863" cy="51168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23711-EC9C-72D0-4EFC-663F2DBDDA18}"/>
              </a:ext>
            </a:extLst>
          </p:cNvPr>
          <p:cNvSpPr txBox="1"/>
          <p:nvPr/>
        </p:nvSpPr>
        <p:spPr>
          <a:xfrm>
            <a:off x="6670609" y="1393858"/>
            <a:ext cx="5191412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Impact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Improves patient–doctor communication by converting unclear speech into clear medical information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Reduces misdiagnosis and saves time in overloaded rural clinics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Makes healthcare accessible for low-literacy and rural communities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r>
              <a:rPr lang="en-US" sz="2400" b="1" dirty="0"/>
              <a:t>Use Cases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Rural clinics, PHCs, and government health centers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ASHA workers and mobile health camps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Telemedicine platforms needing quick, structured symptom summaries</a:t>
            </a:r>
            <a:endParaRPr lang="en-US" sz="20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5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6BC3-81E1-3610-D5FE-CE82E41B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221F4C-F108-EEEB-8D06-B4B7EF9844F9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7401E-11E4-9F6B-C665-C81A474D4274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Screenshots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87CC5C3B-B42A-262D-5207-E50ED50CC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5293CA5F-F076-B241-1DBA-C26D682E8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1651B9A6-C2A5-48DC-55C3-2A6C229BA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9128C-BA30-A374-48CE-27E8B6103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49" y="1822173"/>
            <a:ext cx="5509459" cy="346765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2BDD9B-ED58-A1D9-25A9-58A9FA18A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22" y="1215159"/>
            <a:ext cx="4748395" cy="2860262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78331F0-843A-762C-86FF-051D38CB55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80" t="6250" r="48920" b="7500"/>
          <a:stretch>
            <a:fillRect/>
          </a:stretch>
        </p:blipFill>
        <p:spPr>
          <a:xfrm>
            <a:off x="6546272" y="4385533"/>
            <a:ext cx="5884532" cy="147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9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7647-F9ED-3832-3032-AA4BB169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7EBFF6-2DDA-1560-7B85-A85DD28DEB71}"/>
              </a:ext>
            </a:extLst>
          </p:cNvPr>
          <p:cNvSpPr/>
          <p:nvPr/>
        </p:nvSpPr>
        <p:spPr>
          <a:xfrm>
            <a:off x="0" y="6578599"/>
            <a:ext cx="12192000" cy="2794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711575-8D3B-5114-23D4-448DE2FA068D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Future Scope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CE727821-16D5-BB37-7287-B8318C7F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4C0DD7F-9BF9-90E2-D2B3-97664E199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-239555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98E19BC6-834D-522C-E025-3EB55A095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384881"/>
            <a:ext cx="1203008" cy="666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AC3F7B-8761-4793-A33A-AFAEDF176ECF}"/>
              </a:ext>
            </a:extLst>
          </p:cNvPr>
          <p:cNvSpPr txBox="1"/>
          <p:nvPr/>
        </p:nvSpPr>
        <p:spPr>
          <a:xfrm>
            <a:off x="454819" y="1340643"/>
            <a:ext cx="5164438" cy="461664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Add support for regional languages (Awadhi, Bhojpuri, Bundeli)</a:t>
            </a: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Enable offline mode for low-network rural areas</a:t>
            </a: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Improve AI through doctor feedback (self-learning system)</a:t>
            </a: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Integrate with PHCs, </a:t>
            </a:r>
            <a:r>
              <a:rPr lang="en-US" sz="2300" err="1">
                <a:ea typeface="+mn-lt"/>
                <a:cs typeface="+mn-lt"/>
              </a:rPr>
              <a:t>eSanjeevani</a:t>
            </a:r>
            <a:r>
              <a:rPr lang="en-US" sz="2300" dirty="0">
                <a:ea typeface="+mn-lt"/>
                <a:cs typeface="+mn-lt"/>
              </a:rPr>
              <a:t> &amp; government health platforms</a:t>
            </a: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Add emergency triage for critical symptoms</a:t>
            </a:r>
          </a:p>
          <a:p>
            <a:pPr marL="285750" indent="-285750">
              <a:buFont typeface="Arial"/>
              <a:buChar char="•"/>
            </a:pPr>
            <a:r>
              <a:rPr lang="en-US" sz="2300" dirty="0">
                <a:ea typeface="+mn-lt"/>
                <a:cs typeface="+mn-lt"/>
              </a:rPr>
              <a:t>Expand into a complete telemedicine solution</a:t>
            </a:r>
            <a:endParaRPr lang="en-US" sz="2300"/>
          </a:p>
          <a:p>
            <a:pPr algn="l"/>
            <a:endParaRPr lang="en-US" dirty="0"/>
          </a:p>
        </p:txBody>
      </p:sp>
      <p:pic>
        <p:nvPicPr>
          <p:cNvPr id="8" name="Picture 7" descr="A diagram of a health care system&#10;&#10;AI-generated content may be incorrect.">
            <a:extLst>
              <a:ext uri="{FF2B5EF4-FFF2-40B4-BE49-F238E27FC236}">
                <a16:creationId xmlns:a16="http://schemas.microsoft.com/office/drawing/2014/main" id="{6E9611D3-C998-D966-6563-9B36755279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717" b="2890"/>
          <a:stretch>
            <a:fillRect/>
          </a:stretch>
        </p:blipFill>
        <p:spPr>
          <a:xfrm>
            <a:off x="5735613" y="1709809"/>
            <a:ext cx="6220261" cy="394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350F-3B07-40D0-4623-E1540E4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354E7-EAA5-368C-BC21-BCC672578C44}"/>
              </a:ext>
            </a:extLst>
          </p:cNvPr>
          <p:cNvSpPr/>
          <p:nvPr/>
        </p:nvSpPr>
        <p:spPr>
          <a:xfrm>
            <a:off x="0" y="6393248"/>
            <a:ext cx="12192000" cy="464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99A70-97E8-6CA8-96E5-95BCD6DBE8FA}"/>
              </a:ext>
            </a:extLst>
          </p:cNvPr>
          <p:cNvSpPr/>
          <p:nvPr/>
        </p:nvSpPr>
        <p:spPr>
          <a:xfrm>
            <a:off x="0" y="-1"/>
            <a:ext cx="12192000" cy="914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000" b="1">
                <a:solidFill>
                  <a:schemeClr val="tx1"/>
                </a:solidFill>
              </a:rPr>
              <a:t>Team Members</a:t>
            </a:r>
          </a:p>
        </p:txBody>
      </p:sp>
      <p:pic>
        <p:nvPicPr>
          <p:cNvPr id="16" name="Picture 15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8D3D98E6-1B1C-F367-BD5D-05B0A0AF6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438" y="-103348"/>
            <a:ext cx="1676400" cy="1121093"/>
          </a:xfrm>
          <a:prstGeom prst="rect">
            <a:avLst/>
          </a:prstGeom>
        </p:spPr>
      </p:pic>
      <p:pic>
        <p:nvPicPr>
          <p:cNvPr id="18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E3B9AFA-F560-7F7C-B544-C7BF388C2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879" y="-208663"/>
            <a:ext cx="1333500" cy="1257300"/>
          </a:xfrm>
          <a:prstGeom prst="rect">
            <a:avLst/>
          </a:prstGeom>
        </p:spPr>
      </p:pic>
      <p:pic>
        <p:nvPicPr>
          <p:cNvPr id="20" name="Picture 19" descr="A close up of a logo&#10;&#10;AI-generated content may be incorrect.">
            <a:extLst>
              <a:ext uri="{FF2B5EF4-FFF2-40B4-BE49-F238E27FC236}">
                <a16:creationId xmlns:a16="http://schemas.microsoft.com/office/drawing/2014/main" id="{DA7D06EA-D9DC-7554-FA59-C6C5F362F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92" y="6292205"/>
            <a:ext cx="1203008" cy="6668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128B5F-8114-1FB1-67A9-AEFF9DE764E0}"/>
              </a:ext>
            </a:extLst>
          </p:cNvPr>
          <p:cNvSpPr txBox="1"/>
          <p:nvPr/>
        </p:nvSpPr>
        <p:spPr>
          <a:xfrm>
            <a:off x="39521" y="1031543"/>
            <a:ext cx="12038604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TEAM NAME</a:t>
            </a:r>
            <a:r>
              <a:rPr lang="en-US" sz="4400" dirty="0"/>
              <a:t>:</a:t>
            </a:r>
            <a:r>
              <a:rPr lang="en-US" dirty="0"/>
              <a:t> </a:t>
            </a:r>
            <a:r>
              <a:rPr lang="en-US" sz="3000" dirty="0"/>
              <a:t>HEALIX</a:t>
            </a:r>
          </a:p>
          <a:p>
            <a:r>
              <a:rPr lang="en-US" sz="3000" b="1" dirty="0"/>
              <a:t>TEAM MEMBERS: </a:t>
            </a:r>
          </a:p>
          <a:p>
            <a:r>
              <a:rPr lang="en-US" sz="3000" dirty="0"/>
              <a:t>Ankit Maurya – Team Leader</a:t>
            </a:r>
            <a:endParaRPr lang="en-US" dirty="0"/>
          </a:p>
          <a:p>
            <a:r>
              <a:rPr lang="en-US" sz="3000" dirty="0"/>
              <a:t>Kanchan Prajapati- Presentation &amp; Research Lead</a:t>
            </a:r>
          </a:p>
          <a:p>
            <a:r>
              <a:rPr lang="en-US" sz="3000" dirty="0"/>
              <a:t>Alok Singh – Documentation Lead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51A1C-0633-CF79-D42B-3A4CF9AEDE48}"/>
              </a:ext>
            </a:extLst>
          </p:cNvPr>
          <p:cNvSpPr txBox="1"/>
          <p:nvPr/>
        </p:nvSpPr>
        <p:spPr>
          <a:xfrm>
            <a:off x="55728" y="3790665"/>
            <a:ext cx="1142999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/>
              <a:t>Email Id's:</a:t>
            </a:r>
          </a:p>
          <a:p>
            <a:r>
              <a:rPr lang="en-US" sz="3000" b="1" dirty="0">
                <a:hlinkClick r:id="rId5"/>
              </a:rPr>
              <a:t>info.ankitakm2609@gmail.com</a:t>
            </a:r>
            <a:endParaRPr lang="en-US" sz="3000" b="1" dirty="0"/>
          </a:p>
          <a:p>
            <a:r>
              <a:rPr lang="en-US" sz="3000" b="1" dirty="0">
                <a:hlinkClick r:id="rId6"/>
              </a:rPr>
              <a:t>kkanchanprajapati.75@gmail.com</a:t>
            </a:r>
            <a:endParaRPr lang="en-US" sz="3000" b="1" dirty="0"/>
          </a:p>
          <a:p>
            <a:r>
              <a:rPr lang="en-US" sz="3000" b="1" dirty="0">
                <a:hlinkClick r:id="rId7"/>
              </a:rPr>
              <a:t>aloksngh127@gmail.com</a:t>
            </a:r>
            <a:endParaRPr lang="en-US" sz="3000" b="1" dirty="0"/>
          </a:p>
          <a:p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391301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Singh</dc:creator>
  <cp:revision>443</cp:revision>
  <dcterms:created xsi:type="dcterms:W3CDTF">2025-11-06T04:57:01Z</dcterms:created>
  <dcterms:modified xsi:type="dcterms:W3CDTF">2025-11-06T10:49:05Z</dcterms:modified>
</cp:coreProperties>
</file>